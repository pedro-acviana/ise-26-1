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FC2EE"/>
                </a:solidFill>
                <a:latin typeface="Calibri"/>
              </a:rPr>
              <a:t>TRABALHO FINAL — INTRODUÇÃO AOS SISTEMAS EMBARCADOS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Pula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D8E0F7"/>
                </a:solidFill>
                <a:latin typeface="Calibri"/>
              </a:rPr>
              <a:t>Kirby's Sky Adventures — Relatório de 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Bruno Suxberger Valadares Araújo — matrícula 231012728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Pedro Araujo Cordeiro Viana — matrícula 202067452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é o Pula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▸  Jogo de escalada vertical infinita para a DE1-SoC, no estilo Doodle Jump.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▸  Kirby sobe pulando entre plataformas de gelo geradas proceduralmente.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▸  Um vilão-nave patrulha o topo da tela e atira projéteis mirados no jogador.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1">
                <a:solidFill>
                  <a:srgbClr val="404040"/>
                </a:solidFill>
                <a:latin typeface="Calibri"/>
              </a:rPr>
              <a:t>▸  Mecânica de parry: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     segurando o botão certo, o projétil é refletido de volta — podendo acertar o próprio vilão.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 b="0">
                <a:solidFill>
                  <a:srgbClr val="404040"/>
                </a:solidFill>
                <a:latin typeface="Calibri"/>
              </a:rPr>
              <a:t>▸  Usa VGA, displays de 7 segmentos, LEDs, chaves e botões da placa.</a:t>
            </a:r>
          </a:p>
        </p:txBody>
      </p:sp>
      <p:pic>
        <p:nvPicPr>
          <p:cNvPr id="6" name="Picture 5" descr="teal 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856359"/>
            <a:ext cx="4480560" cy="2516883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0" y="61722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Tela de início na DE1-SoC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COMO COMPILAR E EXECUTAR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Três ambientes, o mesmo pula_plat.c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64240" cy="141732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82296" cy="1417320"/>
          </a:xfrm>
          <a:prstGeom prst="rect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3677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DE1-SoC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1226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B5BA9"/>
                </a:solidFill>
                <a:latin typeface="Consolas"/>
              </a:rPr>
              <a:t>-DDE1_SOC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801368"/>
            <a:ext cx="7406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Calibri"/>
              </a:rPr>
              <a:t>Acessa VGA/LEDs/chaves/botões via /dev/mem — requer root.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36392"/>
            <a:ext cx="11064240" cy="141732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36392"/>
            <a:ext cx="82296" cy="1417320"/>
          </a:xfrm>
          <a:prstGeom prst="rect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6440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CPUlator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3989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B5BA9"/>
                </a:solidFill>
                <a:latin typeface="Consolas"/>
              </a:rPr>
              <a:t>(sem 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29000"/>
            <a:ext cx="7406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Calibri"/>
              </a:rPr>
              <a:t>Simulador da DE1-SoC no navegador; usado só para validações pontuais.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64024"/>
            <a:ext cx="11064240" cy="141732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64024"/>
            <a:ext cx="82296" cy="1417320"/>
          </a:xfrm>
          <a:prstGeom prst="rect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Calibri"/>
              </a:rPr>
              <a:t>SDL_SIM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6752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B5BA9"/>
                </a:solidFill>
                <a:latin typeface="Consolas"/>
              </a:rPr>
              <a:t>-DSDL_SIM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056632"/>
            <a:ext cx="7406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  <a:latin typeface="Calibri"/>
              </a:rPr>
              <a:t>Janela SDL2 + teclado; usado no dia a dia via MSYS2, sem precisar da placa.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VALIDAÇÃO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Execução na placa DE1-SoC</a:t>
            </a:r>
          </a:p>
        </p:txBody>
      </p:sp>
      <p:pic>
        <p:nvPicPr>
          <p:cNvPr id="5" name="Picture 4" descr="de1so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74131"/>
            <a:ext cx="5577840" cy="2572778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pic>
        <p:nvPicPr>
          <p:cNvPr id="6" name="Picture 5" descr="jogo rodand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788" y="1280159"/>
            <a:ext cx="2488425" cy="539496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7D1EE"/>
                </a:solidFill>
                <a:latin typeface="Calibri"/>
              </a:rPr>
              <a:t>LEDs e display de 7 segmentos refletindo vidas/pontuação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4652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7D1EE"/>
                </a:solidFill>
                <a:latin typeface="Calibri"/>
              </a:rPr>
              <a:t>Bancada completa: DE1-SoC + monitor VGA + laço de desenvolvimento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FUNCIONAMENTO DO JOGO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Laço principal e estados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760720" cy="4160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DAE6FF"/>
                </a:solidFill>
                <a:latin typeface="Consolas"/>
              </a:rPr>
              <a:t>while (programa_rodando) {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ler_entrada(&amp;esquerda, &amp;direita, &amp;pular, &amp;parry);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switch (estado_jogo) {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case ESTADO_INICIO:    renderiza_tela_inicio();     break;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case ESTADO_JOGANDO:   atualiza_estado(...);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                       atualiza_vilao();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                       atualiza_projetil(...);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                       atualiza_derretimento();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                       renderiza_cena(...);         break;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case ESTADO_GAME_OVER: renderiza_tela_game_over();  break;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case ESTADO_VITORIA:   renderiza_cena(...);         break;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  }</a:t>
            </a:r>
          </a:p>
          <a:p>
            <a:r>
              <a:rPr sz="1250">
                <a:solidFill>
                  <a:srgbClr val="DAE6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Início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animação do Kirby; botão direita começa a partida.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Jogando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física, plataformas, vilão/projétil e pontuação.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Game Over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vidas chegaram a zero; permite reiniciar ou sair.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Vitória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pontuação máxima atingida; cena congela com o Kirby campeão.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FUNCIONAMENTO DO JOGO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Máquina de estados (EstadoJogo)</a:t>
            </a:r>
          </a:p>
        </p:txBody>
      </p:sp>
      <p:pic>
        <p:nvPicPr>
          <p:cNvPr id="5" name="Picture 4" descr="uml_estados_j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623060"/>
            <a:ext cx="1051560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FUNCIONAMENTO DO JOGO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Mecânicas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Física do pulo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gravidade e velocidade em ponto fixo 24.8; colisão testada só na descida.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Geração procedural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altura e deslocamento sorteados dentro do alcance físico do pulo (alcance_horizontal()).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Derretimento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cada plataforma dura 12s, em 4 estágios visuais, antes de sumir e reciclar.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Câmera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só sobe; empurra o cenário para baixo conforme o jogador escala.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Vilão e projétil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atira mirado no jogador; parry reflete o tiro, podendo acertar o vilão.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Vidas e renascimento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levar tiro ou cair custa uma vida; reaparece sempre sobre uma plataforma.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ENTRADAS E SAÍDAS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Periféricos da DE1-SoC utilizados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760720"/>
                <a:gridCol w="2011680"/>
              </a:tblGrid>
              <a:tr h="7010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Periférico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Uso no jogo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Vídeo VGA (obrig.)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Renderização do cenário, plataformas e personagem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Displays 7 segmentos (obrig.)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Exibição da pontuação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LEDs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Número de vidas restantes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Chaves (SW)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Chave 0 = pulo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Botões (KEY)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Botões 0/1 = movimento; botão 2 = parry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404040"/>
                          </a:solidFill>
                          <a:latin typeface="Calibri"/>
                        </a:rPr>
                        <a:t>Implementado</a:t>
                      </a:r>
                    </a:p>
                  </a:txBody>
                  <a:tcPr>
                    <a:solidFill>
                      <a:srgbClr val="F5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No modo SDL_SIM, o teclado substitui chaves e botões (setas/WASD, espaço, shift).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ESTRUTURA DO CÓDIGO (UML)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Diagrama de classes simplificado</a:t>
            </a:r>
          </a:p>
        </p:txBody>
      </p:sp>
      <p:pic>
        <p:nvPicPr>
          <p:cNvPr id="5" name="Picture 4" descr="uml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11" y="1348739"/>
            <a:ext cx="4546218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46304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▸  Jogo é implementado em C, sem orientação a objetos.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▸  Dados organizados em structs: Player, Plataforma, Vilao, Projetil, Recordes.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▸  Cada struct é associada a um grupo de funções que operam sobre ela.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▸  Losangos = agregação: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350">
                <a:solidFill>
                  <a:srgbClr val="6B7280"/>
                </a:solidFill>
                <a:latin typeface="Calibri"/>
              </a:rPr>
              <a:t>     Jogo (laço em main()) controla o ciclo de vida das partes.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0">
                <a:solidFill>
                  <a:srgbClr val="404040"/>
                </a:solidFill>
                <a:latin typeface="Calibri"/>
              </a:rPr>
              <a:t>▸  Notação de Wolf: retângulo dividido em nome / atributos / operações.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ESTRUTURA DO CÓDIGO (UML)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Diagrama de estados do vilão</a:t>
            </a:r>
          </a:p>
        </p:txBody>
      </p:sp>
      <p:pic>
        <p:nvPicPr>
          <p:cNvPr id="5" name="Picture 4" descr="uml_estados_vil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815880"/>
            <a:ext cx="9601200" cy="4049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ESTRUTURA DO CÓDIGO (UML)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Diagrama de sequência: parry e reflexo do projétil</a:t>
            </a:r>
          </a:p>
        </p:txBody>
      </p:sp>
      <p:pic>
        <p:nvPicPr>
          <p:cNvPr id="5" name="Picture 4" descr="uml_sequencia_par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47" y="1463039"/>
            <a:ext cx="70104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GRÁFICOS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Framebuffer, sprites e câmera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404040"/>
                </a:solidFill>
                <a:latin typeface="Calibri"/>
              </a:rPr>
              <a:t>▸  Double buffering: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6B7280"/>
                </a:solidFill>
                <a:latin typeface="Calibri"/>
              </a:rPr>
              <a:t>     tudo é desenhado num back_buffer na RAM; só ao final do quadro é copiado de uma vez para a VGA, evitando flicker.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404040"/>
                </a:solidFill>
                <a:latin typeface="Calibri"/>
              </a:rPr>
              <a:t>▸  Pipeline de sprites: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6B7280"/>
                </a:solidFill>
                <a:latin typeface="Calibri"/>
              </a:rPr>
              <a:t>     PNGs convertidos para arrays C RGB565 pelo script tools/png2c.py, com cor-chave de transparência (magenta).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404040"/>
                </a:solidFill>
                <a:latin typeface="Calibri"/>
              </a:rPr>
              <a:t>▸  Fundo e câmera: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6B7280"/>
                </a:solidFill>
                <a:latin typeface="Calibri"/>
              </a:rPr>
              <a:t>     céu em grade repetida cuja fase acompanha camera_y; muda de nível a cada 25 plataformas geradas.</a:t>
            </a:r>
          </a:p>
        </p:txBody>
      </p:sp>
      <p:pic>
        <p:nvPicPr>
          <p:cNvPr id="6" name="Picture 5" descr="kirby_neu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4497705"/>
            <a:ext cx="1245870" cy="1245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Parado</a:t>
            </a:r>
          </a:p>
        </p:txBody>
      </p:sp>
      <p:pic>
        <p:nvPicPr>
          <p:cNvPr id="8" name="Picture 7" descr="kirby_pa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734" y="4434840"/>
            <a:ext cx="884903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3167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Parry</a:t>
            </a:r>
          </a:p>
        </p:txBody>
      </p:sp>
      <p:pic>
        <p:nvPicPr>
          <p:cNvPr id="10" name="Picture 9" descr="kirby_atingi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562147"/>
            <a:ext cx="1245870" cy="11169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1470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Atingido</a:t>
            </a:r>
          </a:p>
        </p:txBody>
      </p:sp>
      <p:pic>
        <p:nvPicPr>
          <p:cNvPr id="12" name="Picture 11" descr="kirby_campe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011" y="4434840"/>
            <a:ext cx="1136468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773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Campeão</a:t>
            </a:r>
          </a:p>
        </p:txBody>
      </p:sp>
      <p:pic>
        <p:nvPicPr>
          <p:cNvPr id="14" name="Picture 13" descr="vilao_parad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340" y="4569583"/>
            <a:ext cx="1245870" cy="11021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076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Vilão</a:t>
            </a:r>
          </a:p>
        </p:txBody>
      </p:sp>
      <p:pic>
        <p:nvPicPr>
          <p:cNvPr id="16" name="Picture 15" descr="vilao_explodi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8958" y="4434840"/>
            <a:ext cx="1192695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6379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Explodindo</a:t>
            </a:r>
          </a:p>
        </p:txBody>
      </p:sp>
      <p:pic>
        <p:nvPicPr>
          <p:cNvPr id="18" name="Picture 17" descr="plataforma_gel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4855893"/>
            <a:ext cx="1245870" cy="5294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4682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Gelo íntegro</a:t>
            </a:r>
          </a:p>
        </p:txBody>
      </p:sp>
      <p:pic>
        <p:nvPicPr>
          <p:cNvPr id="20" name="Picture 19" descr="plataforma_derr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8430" y="4614506"/>
            <a:ext cx="1245870" cy="101226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29850" y="5989320"/>
            <a:ext cx="138303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Derretida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SISTEMA DE PONTUAÇÃO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Pontuação e recordes persistentes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404040"/>
                </a:solidFill>
                <a:latin typeface="Calibri"/>
              </a:rPr>
              <a:t>▸  Pontuação: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     10px de altura recorde = 1 ponto, até o teto de 2000 (vitória). Nunca cai durante a partida.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3566160" cy="237744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3B5BA9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Maior pontuação já alcançada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17720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atualizada ao fim de cada partida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017520"/>
            <a:ext cx="3566160" cy="237744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200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3B5BA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7947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Menor pontuação com vilão derrotado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617720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atualizada no instante em que ele explode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017520"/>
            <a:ext cx="3566160" cy="2377440"/>
          </a:xfrm>
          <a:prstGeom prst="rect">
            <a:avLst/>
          </a:prstGeom>
          <a:solidFill>
            <a:srgbClr val="F5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2004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3B5BA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947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libri"/>
              </a:rPr>
              <a:t>Menor tempo até vencer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617720"/>
            <a:ext cx="3108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contado em quadros desde o início da partida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Salvos em recordes.dat ao lado do executável (SDL_SIM e DE1-SoC); no CPUlator, sem disco persistente, a leitura falha silenciosamente e o jogo segue sem recordes salvos.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FC2EE"/>
                </a:solidFill>
                <a:latin typeface="Calibri"/>
              </a:rPr>
              <a:t>DIFICULDADES E DESAFIOS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Principais problemas encontrados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▸  Geração de plataformas incompatível com o pulo: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6B7280"/>
                </a:solidFill>
                <a:latin typeface="Calibri"/>
              </a:rPr>
              <a:t>     o jogador podia chegar ao topo sem nada gerado à frente — corrigido antecipando o gatilho para o primeiro terço da tela.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▸  Plataformas sumindo debaixo do personagem: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6B7280"/>
                </a:solidFill>
                <a:latin typeface="Calibri"/>
              </a:rPr>
              <a:t>     reciclagem usava a posição instantânea do jogador; corrigido rastreando a última plataforma em que ele realmente pousou.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▸  Renascimento no vazio: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6B7280"/>
                </a:solidFill>
                <a:latin typeface="Calibri"/>
              </a:rPr>
              <a:t>     ao perder uma vida, reaparecer sem chão garantido; corrigido escolhendo sempre a plataforma mais próxima da câmera.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▸  Transparência perdida ao editar sprites: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6B7280"/>
                </a:solidFill>
                <a:latin typeface="Calibri"/>
              </a:rPr>
              <a:t>     PNGs exportados com xadrez cinza sólido em vez de alfa real; corrigido tratando essas cores como fundo no png2c.py.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404040"/>
                </a:solidFill>
                <a:latin typeface="Calibri"/>
              </a:rPr>
              <a:t>▸  Compilação silenciosa falhando no MSYS2: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6B7280"/>
                </a:solidFill>
                <a:latin typeface="Calibri"/>
              </a:rPr>
              <a:t>     cc1.exe não achava DLLs por PATH inválido; corrigido garantindo mingw64/bin no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Pula Plataformas — Kirby’s Sky Adventures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E4E9F7"/>
                </a:solidFill>
                <a:latin typeface="Calibri"/>
              </a:rPr>
              <a:t>▸  Núcleo completo de platformer: física de pulo, colisão, inimigo ativo, obstáculo destrutível.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E4E9F7"/>
                </a:solidFill>
                <a:latin typeface="Calibri"/>
              </a:rPr>
              <a:t>▸  Geração procedural infinita de cenário, sprites animados, double buffering.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E4E9F7"/>
                </a:solidFill>
                <a:latin typeface="Calibri"/>
              </a:rPr>
              <a:t>▸  Sistema de recordes persistentes entre execuções.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1">
                <a:solidFill>
                  <a:srgbClr val="E4E9F7"/>
                </a:solidFill>
                <a:latin typeface="Calibri"/>
              </a:rPr>
              <a:t>▸  Maior aprendizado: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     não foi a implementação inicial das mecânicas, mas os ajustes finos para que a geração procedural se comportasse de forma consistente com a física em todas as situações — um problema de sistemas com estado e temporização que só se revela jogando (e quebrando) o jogo repetidas vezes.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AFC2EE"/>
                </a:solidFill>
                <a:latin typeface="Calibri"/>
              </a:rP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